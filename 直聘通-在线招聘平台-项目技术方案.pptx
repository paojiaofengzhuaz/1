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notesSlides/notesSlide1.xml" Type="http://schemas.openxmlformats.org/officeDocument/2006/relationships/notesSlide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0.xml" Type="http://schemas.openxmlformats.org/officeDocument/2006/relationships/notesSlide"/><Relationship Id="rId31" Target="notesSlides/notesSlide11.xml" Type="http://schemas.openxmlformats.org/officeDocument/2006/relationships/notesSlide"/><Relationship Id="rId32" Target="notesSlides/notesSlide12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各位老师好，今天我汇报的项目是"直聘通"——一个在线招聘求职平台。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这个项目是基于 Spring Cloud Alibaba 微服务架构和 Vue3 前端技术栈开发的，模仿 BOSS 直聘的核心功能。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项目实现了求职者和招聘者双角色的完整业务流程，包括岗位浏览、简历投递、在线沟通和智能匹配等功能。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本次汇报将从六个方面展开。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首先介绍项目概览和系统架构，然后详细讲解核心功能模块。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接着说明数据库设计和部署运行方式，最后做总结与展望。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直聘通是一个仿 BOSS 直聘的在线招聘求职平台。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平台服务两类用户：求职者可以维护简历、浏览岗位、投递职位、与招聘者在线沟通；招聘者可以发布岗位、筛选简历、与候选人沟通。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整个系统拆分为7个微服务模块，采用4个独立数据库做分库设计，预置了28个行业分类、147个在招岗位作为演示数据。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整个系统采用典型的四层微服务架构。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最上层是 Vue3 前端应用，通过 Vite 代理访问后端。所有请求先经过 Spring Cloud Gateway 网关，网关负责路由转发和 Token 鉴权，校验通过后向下游服务注入用户身份信息。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网关后面是5个业务微服务，分别负责用户、岗位、简历、IM沟通和智能匹配。其中匹配服务通过 OpenFeign 调用岗位和简历服务，实现跨服务的数据聚合。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最底层是基础设施层，包括4个独立的 MySQL 数据库、Redis 缓存和 Nacos 注册中心。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后端技术栈基于 Spring Cloud Alibaba 全家桶。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核心框架采用 Spring Boot 2.6.13 和 Spring Cloud 2021.0.5 稳定版本。服务治理方面使用 Nacos 做服务注册发现，Spring Cloud Gateway 做 API 网关，OpenFeign 实现服务间声明式调用。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数据层使用 MyBatis-Plus 3.5.2 作为 ORM 框架，MySQL 8 做持久化存储，Redis 7 做 Token 缓存。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前端采用 Vue3 + Vite 6 + Element Plus 技术栈。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使用 Composition API 编写业务逻辑，Element Plus 提供成熟的 UI 组件，快速搭建表单、表格等 B 端界面。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前端通过 axios 拦截器统一在请求头中加入 Token，IM 沟通采用 3 秒轮询的方式实现消息实时刷新。开发环境运行在 5180 端口，通过 Vite 代理转发 /api 请求到后端网关。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用户模块实现了求职者和招聘者双身份的注册登录体系。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登录成功后生成 Token 存入 Redis，后续请求由网关统一校验。网关校验通过后，会向下游服务透传用户 ID 和角色信息，下游服务无需重复校验。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登录注册、岗位浏览等公开接口不需要 Token，其余业务接口都需要经过网关鉴权。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岗位与简历投递是平台的核心业务闭环。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招聘者可以发布岗位、管理自己的职位列表；求职者可以按关键字、城市、学历筛选浏览岗位，查看职位详情。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投递后简历进入待查看状态，招聘者查看后可以标记为邀面试或不合适，形成完整的状态流转。双方还可以通过 IM 模块进一步沟通。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在线沟通模块实现了求职者与招聘者的实时对话能力。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用户点击「立即沟通」后建立会话，前端通过 3 秒轮询的方式刷新消息，同时维护双方的未读数。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智能匹配服务是平台的亮点功能，它通过 Feign 调用岗位和简历服务，基于技能、城市、薪资、学历等维度对岗位打分排序，还支持自然语言检索并生成推荐话术。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数据库设计采用按业务域垂直分库的策略，共4个独立数据库。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用户库存用户信息，岗位库存职位数据，简历库存简历和投递记录，沟通库存会话和消息。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每个微服务只访问自己对应的数据库，服务之间的数据通过 OpenFeign 接口调用获取，实现了数据层面的隔离和解耦。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项目提供了 Docker Compose 配置文件，可以一键启动 MySQL、Redis 和 Nacos 三个基础设施。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启动顺序是先起基础设施，再初始化数据库脚本，然后依次启动后端微服务，最后启动前端。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预置了两个演示账号：求职者 demo 和招聘者 hr001，密码都是 123456，可以直接体验完整业务流程。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总结一下，这个项目完成了微服务架构的完整落地，实现了求职者和招聘者双角色的全业务流程闭环。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后续可以从三个方向优化：一是把 IM 从轮询升级为 WebSocket，提升实时性；二是优化匹配算法，引入向量检索实现语义匹配；三是增强系统健壮性，加入限流熔断和链路追踪。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以上就是我的全部汇报，谢谢各位老师。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42969" flipH="false" flipV="false">
            <a:off x="1016040" y="1009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00308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3" id="3"/>
          <p:cNvSpPr txBox="true"/>
          <p:nvPr/>
        </p:nvSpPr>
        <p:spPr>
          <a:xfrm rot="0" flipH="false" flipV="false">
            <a:off x="1016000" y="11684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PROJECT TECHNICAL DECK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2286000"/>
            <a:ext cx="762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001C5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直聘通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34290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308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在线招聘求职平台 · 项目技术方案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5626" flipH="false" flipV="false">
            <a:off x="1016014" y="4184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1016000" y="4445000"/>
            <a:ext cx="762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5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基于 Spring Cloud Alibaba 微服务架构 + Vue3 的全栈招聘平台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5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仿 BOSS 直聘 · 双角色在线沟通 · 智能匹配推荐</a:t>
            </a:r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16000" y="59690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课程实验项目 · 微服务架构设计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8890000" y="59690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2026 · v1.0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652000" y="2286000"/>
            <a:ext cx="1524000" cy="2540000"/>
          </a:xfrm>
          <a:prstGeom prst="roundRect">
            <a:avLst>
              <a:gd name="adj" fmla="val 0"/>
            </a:avLst>
          </a:prstGeom>
          <a:solidFill>
            <a:srgbClr val="D4E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906000" y="2540000"/>
            <a:ext cx="1016000" cy="2032000"/>
          </a:xfrm>
          <a:prstGeom prst="roundRect">
            <a:avLst>
              <a:gd name="adj" fmla="val 0"/>
            </a:avLst>
          </a:prstGeom>
          <a:solidFill>
            <a:srgbClr val="0070B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762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66800"/>
            <a:ext cx="5080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1C5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目录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898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286000"/>
            <a:ext cx="76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70B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01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905000" y="2349500"/>
            <a:ext cx="355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1C5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项目概览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905000" y="2730500"/>
            <a:ext cx="355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平台定位、双角色与核心价值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549" flipH="false" flipV="false">
            <a:off x="1016009" y="3168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1016000" y="3492500"/>
            <a:ext cx="76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70B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02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905000" y="3556000"/>
            <a:ext cx="355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1C5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系统架构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905000" y="3937000"/>
            <a:ext cx="355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微服务全景、技术栈与模块划分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9549" flipH="false" flipV="false">
            <a:off x="1016009" y="4375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 txBox="true"/>
          <p:nvPr/>
        </p:nvSpPr>
        <p:spPr>
          <a:xfrm rot="0" flipH="false" flipV="false">
            <a:off x="1016000" y="4699000"/>
            <a:ext cx="76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70B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03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905000" y="4762500"/>
            <a:ext cx="355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1C5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核心功能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905000" y="5143500"/>
            <a:ext cx="355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用户鉴权、岗位投递、沟通与匹配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6350000" y="2286000"/>
            <a:ext cx="76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70B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04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7239000" y="2349500"/>
            <a:ext cx="355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1C5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数据库设计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7239000" y="2730500"/>
            <a:ext cx="355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四库分库架构与核心表结构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9549" flipH="false" flipV="false">
            <a:off x="6350009" y="3168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 txBox="true"/>
          <p:nvPr/>
        </p:nvSpPr>
        <p:spPr>
          <a:xfrm rot="0" flipH="false" flipV="false">
            <a:off x="6350000" y="3492500"/>
            <a:ext cx="76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70B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05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7239000" y="3556000"/>
            <a:ext cx="355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1C5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部署运行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7239000" y="3937000"/>
            <a:ext cx="355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Docker Compose 与启动流程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9549" flipH="false" flipV="false">
            <a:off x="6350009" y="4375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 txBox="true"/>
          <p:nvPr/>
        </p:nvSpPr>
        <p:spPr>
          <a:xfrm rot="0" flipH="false" flipV="false">
            <a:off x="6350000" y="4699000"/>
            <a:ext cx="76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70B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06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7239000" y="4762500"/>
            <a:ext cx="355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1C5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总结展望</a:t>
            </a:r>
            <a:endParaRPr lang="en-US" sz="1100"/>
          </a:p>
        </p:txBody>
      </p:sp>
      <p:sp>
        <p:nvSpPr>
          <p:cNvPr name="AutoShape 26" id="26"/>
          <p:cNvSpPr txBox="true"/>
          <p:nvPr/>
        </p:nvSpPr>
        <p:spPr>
          <a:xfrm rot="0" flipH="false" flipV="false">
            <a:off x="7239000" y="5143500"/>
            <a:ext cx="355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项目成果与后续优化方向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01 · 项目概览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952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1C5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连接求职者与招聘者的一站式招聘平台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64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19685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308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平台定位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2413000"/>
            <a:ext cx="457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仿 BOSS 直聘的在线招聘求职平台，基于 Spring Cloud Alibaba 微服务架构构建。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4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实现求职者与招聘者双角色完整业务闭环，支持岗位浏览、简历投递、在线沟通与智能匹配。</a:t>
            </a:r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4318000"/>
            <a:ext cx="127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70B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7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16000" y="5016500"/>
            <a:ext cx="127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微服务模块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2286000" y="4318000"/>
            <a:ext cx="127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70B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4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2286000" y="5016500"/>
            <a:ext cx="127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独立数据库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3556000" y="4318000"/>
            <a:ext cx="127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70B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147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3556000" y="5016500"/>
            <a:ext cx="127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在招岗位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096000" y="1968500"/>
            <a:ext cx="2286000" cy="3302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6350000" y="2222500"/>
            <a:ext cx="177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1C5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求职者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24554" flipH="false" flipV="false">
            <a:off x="6350023" y="26606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 txBox="true"/>
          <p:nvPr/>
        </p:nvSpPr>
        <p:spPr>
          <a:xfrm rot="0" flipH="false" flipV="false">
            <a:off x="6350000" y="2857500"/>
            <a:ext cx="1778000" cy="215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66666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在线维护简历</a:t>
            </a:r>
            <a:endParaRPr lang="en-US" sz="1100"/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浏览搜索岗位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一键投递职位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与招聘者在线沟通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智能岗位推荐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763000" y="1968500"/>
            <a:ext cx="2286000" cy="3302000"/>
          </a:xfrm>
          <a:prstGeom prst="roundRect">
            <a:avLst>
              <a:gd name="adj" fmla="val 0"/>
            </a:avLst>
          </a:prstGeom>
          <a:solidFill>
            <a:srgbClr val="D4E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9017000" y="2222500"/>
            <a:ext cx="177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1C5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招聘者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24554" flipH="false" flipV="false">
            <a:off x="9017023" y="26606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 txBox="true"/>
          <p:nvPr/>
        </p:nvSpPr>
        <p:spPr>
          <a:xfrm rot="0" flipH="false" flipV="false">
            <a:off x="9017000" y="2857500"/>
            <a:ext cx="1778000" cy="215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66666"/>
              </a:lnSpc>
              <a:defRPr/>
            </a:pPr>
            <a:r>
              <a:rPr lang="en-US" b="false" i="false" strike="noStrike" u="none" sz="1300">
                <a:solidFill>
                  <a:srgbClr val="00308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发布与管理岗位</a:t>
            </a:r>
            <a:endParaRPr lang="en-US" sz="1100"/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00308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查看收到的简历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00308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筛选与标记候选人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00308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在线沟通面试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00308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智能人才匹配</a:t>
            </a:r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1016000" y="6350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4A3B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直聘通 · 在线招聘求职平台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9906000" y="6350000"/>
            <a:ext cx="127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4A3B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03 / 12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02 · 系统架构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952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1C5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Spring Cloud Alibaba 微服务架构全景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64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4064000" y="1905000"/>
            <a:ext cx="4064000" cy="571500"/>
          </a:xfrm>
          <a:prstGeom prst="roundRect">
            <a:avLst>
              <a:gd name="adj" fmla="val 0"/>
            </a:avLst>
          </a:prstGeom>
          <a:solidFill>
            <a:srgbClr val="D4E5F7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4064000" y="1968500"/>
            <a:ext cx="4064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1C5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前端 · Vue3 + Element Plus (Port 5180)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5262563" flipH="false" flipV="false">
            <a:off x="5937250" y="2629027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64748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3556000" y="2794000"/>
            <a:ext cx="5080000" cy="571500"/>
          </a:xfrm>
          <a:prstGeom prst="roundRect">
            <a:avLst>
              <a:gd name="adj" fmla="val 0"/>
            </a:avLst>
          </a:prstGeom>
          <a:solidFill>
            <a:srgbClr val="0070B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3556000" y="2857500"/>
            <a:ext cx="5080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API 网关 · Spring Cloud Gateway (Port 18090)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3556000" y="3403600"/>
            <a:ext cx="508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路由转发 · Token 鉴权 · 透传 X-UserId / X-Role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5228255" flipH="false" flipV="false">
            <a:off x="2413000" y="38038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748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2" id="12"/>
          <p:cNvCxnSpPr/>
          <p:nvPr/>
        </p:nvCxnSpPr>
        <p:spPr>
          <a:xfrm rot="5228255" flipH="false" flipV="false">
            <a:off x="4191000" y="38038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748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3" id="13"/>
          <p:cNvCxnSpPr/>
          <p:nvPr/>
        </p:nvCxnSpPr>
        <p:spPr>
          <a:xfrm rot="5228255" flipH="false" flipV="false">
            <a:off x="5969000" y="38038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748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4" id="14"/>
          <p:cNvCxnSpPr/>
          <p:nvPr/>
        </p:nvCxnSpPr>
        <p:spPr>
          <a:xfrm rot="5228255" flipH="false" flipV="false">
            <a:off x="7747000" y="38038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748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5" id="15"/>
          <p:cNvCxnSpPr/>
          <p:nvPr/>
        </p:nvCxnSpPr>
        <p:spPr>
          <a:xfrm rot="5228255" flipH="false" flipV="false">
            <a:off x="9525000" y="38038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748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6" id="16"/>
          <p:cNvCxnSpPr/>
          <p:nvPr/>
        </p:nvCxnSpPr>
        <p:spPr>
          <a:xfrm rot="-4911" flipH="false" flipV="false">
            <a:off x="1651005" y="3676650"/>
            <a:ext cx="889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748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1651000" y="3937000"/>
            <a:ext cx="1778000" cy="6985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651000" y="4038600"/>
            <a:ext cx="177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1C5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service-user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1651000" y="4343400"/>
            <a:ext cx="1778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用户 · 注册登录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429000" y="3937000"/>
            <a:ext cx="1778000" cy="6985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3429000" y="4038600"/>
            <a:ext cx="177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1C5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service-job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3429000" y="4343400"/>
            <a:ext cx="1778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岗位 · 发布检索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207000" y="3937000"/>
            <a:ext cx="1778000" cy="6985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5207000" y="4038600"/>
            <a:ext cx="177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1C5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service-resume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5207000" y="4343400"/>
            <a:ext cx="1778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简历 · 投递管理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985000" y="3937000"/>
            <a:ext cx="1778000" cy="6985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6985000" y="4038600"/>
            <a:ext cx="177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1C5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service-im</a:t>
            </a:r>
            <a:endParaRPr lang="en-US" sz="1100"/>
          </a:p>
        </p:txBody>
      </p:sp>
      <p:sp>
        <p:nvSpPr>
          <p:cNvPr name="AutoShape 28" id="28"/>
          <p:cNvSpPr txBox="true"/>
          <p:nvPr/>
        </p:nvSpPr>
        <p:spPr>
          <a:xfrm rot="0" flipH="false" flipV="false">
            <a:off x="6985000" y="4343400"/>
            <a:ext cx="1778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沟通 · 会话消息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763000" y="3937000"/>
            <a:ext cx="1778000" cy="698500"/>
          </a:xfrm>
          <a:prstGeom prst="roundRect">
            <a:avLst>
              <a:gd name="adj" fmla="val 0"/>
            </a:avLst>
          </a:prstGeom>
          <a:solidFill>
            <a:srgbClr val="D4E5F7">
              <a:alpha val="100000"/>
            </a:srgbClr>
          </a:solidFill>
          <a:ln w="25400" cmpd="sng" cap="flat">
            <a:solidFill>
              <a:srgbClr val="00308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 txBox="true"/>
          <p:nvPr/>
        </p:nvSpPr>
        <p:spPr>
          <a:xfrm rot="0" flipH="false" flipV="false">
            <a:off x="8763000" y="4038600"/>
            <a:ext cx="177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308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service-match</a:t>
            </a:r>
            <a:endParaRPr lang="en-US" sz="1100"/>
          </a:p>
        </p:txBody>
      </p:sp>
      <p:sp>
        <p:nvSpPr>
          <p:cNvPr name="AutoShape 31" id="31"/>
          <p:cNvSpPr txBox="true"/>
          <p:nvPr/>
        </p:nvSpPr>
        <p:spPr>
          <a:xfrm rot="0" flipH="false" flipV="false">
            <a:off x="8763000" y="4343400"/>
            <a:ext cx="1778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00308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匹配 · Feign 调用</a:t>
            </a:r>
            <a:endParaRPr lang="en-US" sz="1100"/>
          </a:p>
        </p:txBody>
      </p:sp>
      <p:cxnSp>
        <p:nvCxnSpPr>
          <p:cNvPr name="Connector 32" id="32"/>
          <p:cNvCxnSpPr/>
          <p:nvPr/>
        </p:nvCxnSpPr>
        <p:spPr>
          <a:xfrm rot="5285450" flipH="false" flipV="false">
            <a:off x="2349500" y="481975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748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name="Connector 33" id="33"/>
          <p:cNvCxnSpPr/>
          <p:nvPr/>
        </p:nvCxnSpPr>
        <p:spPr>
          <a:xfrm rot="5285450" flipH="false" flipV="false">
            <a:off x="5905500" y="481975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748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name="Connector 34" id="34"/>
          <p:cNvCxnSpPr/>
          <p:nvPr/>
        </p:nvCxnSpPr>
        <p:spPr>
          <a:xfrm rot="5285450" flipH="false" flipV="false">
            <a:off x="9461500" y="481975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748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35" id="35"/>
          <p:cNvSpPr/>
          <p:nvPr/>
        </p:nvSpPr>
        <p:spPr>
          <a:xfrm rot="0" flipH="false" flipV="false">
            <a:off x="1270000" y="5016500"/>
            <a:ext cx="2540000" cy="5715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 txBox="true"/>
          <p:nvPr/>
        </p:nvSpPr>
        <p:spPr>
          <a:xfrm rot="0" flipH="false" flipV="false">
            <a:off x="1270000" y="51435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MySQL · 4 个独立数据库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4826000" y="5016500"/>
            <a:ext cx="2540000" cy="5715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8" id="38"/>
          <p:cNvSpPr txBox="true"/>
          <p:nvPr/>
        </p:nvSpPr>
        <p:spPr>
          <a:xfrm rot="0" flipH="false" flipV="false">
            <a:off x="4826000" y="51435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Redis · Token 缓存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8382000" y="5016500"/>
            <a:ext cx="2540000" cy="5715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0" id="40"/>
          <p:cNvSpPr txBox="true"/>
          <p:nvPr/>
        </p:nvSpPr>
        <p:spPr>
          <a:xfrm rot="0" flipH="false" flipV="false">
            <a:off x="8382000" y="51435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Nacos · 服务注册发现</a:t>
            </a:r>
            <a:endParaRPr lang="en-US" sz="1100"/>
          </a:p>
        </p:txBody>
      </p:sp>
      <p:sp>
        <p:nvSpPr>
          <p:cNvPr name="AutoShape 41" id="41"/>
          <p:cNvSpPr txBox="true"/>
          <p:nvPr/>
        </p:nvSpPr>
        <p:spPr>
          <a:xfrm rot="0" flipH="false" flipV="false">
            <a:off x="1016000" y="5905500"/>
            <a:ext cx="762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服务间通信：OpenFeign + LoadBalancer · 公共模块：recruit-common</a:t>
            </a:r>
            <a:endParaRPr lang="en-US" sz="1100"/>
          </a:p>
        </p:txBody>
      </p:sp>
      <p:sp>
        <p:nvSpPr>
          <p:cNvPr name="AutoShape 42" id="42"/>
          <p:cNvSpPr txBox="true"/>
          <p:nvPr/>
        </p:nvSpPr>
        <p:spPr>
          <a:xfrm rot="0" flipH="false" flipV="false">
            <a:off x="1016000" y="6350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4A3B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直聘通 · 在线招聘求职平台</a:t>
            </a:r>
            <a:endParaRPr lang="en-US" sz="1100"/>
          </a:p>
        </p:txBody>
      </p:sp>
      <p:sp>
        <p:nvSpPr>
          <p:cNvPr name="AutoShape 43" id="43"/>
          <p:cNvSpPr txBox="true"/>
          <p:nvPr/>
        </p:nvSpPr>
        <p:spPr>
          <a:xfrm rot="0" flipH="false" flipV="false">
            <a:off x="9906000" y="6350000"/>
            <a:ext cx="127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4A3B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04 / 12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02 · 系统架构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952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1C5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后端技术栈 · Spring Cloud Alibaba 全家桶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64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1968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0308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核心框架</a:t>
            </a:r>
            <a:endParaRPr lang="en-US" sz="1100"/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16000" y="2413000"/>
          <a:ext cx="4826000" cy="228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78000"/>
                <a:gridCol w="1524000"/>
                <a:gridCol w="1524000"/>
              </a:tblGrid>
              <a:tr h="508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技术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版本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用途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Spring Boot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2.6.13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基础框架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Spring Cloud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2021.0.5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微服务治理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Spring Cloud Alibaba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2021.0.5.0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阿里微服务套件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OpenFeign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服务间调用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7" id="7"/>
          <p:cNvSpPr txBox="true"/>
          <p:nvPr/>
        </p:nvSpPr>
        <p:spPr>
          <a:xfrm rot="0" flipH="false" flipV="false">
            <a:off x="6350000" y="1968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0308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服务治理与数据存储</a:t>
            </a:r>
            <a:endParaRPr lang="en-US" sz="1100"/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6350000" y="2413000"/>
          <a:ext cx="4826000" cy="228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78000"/>
                <a:gridCol w="1524000"/>
                <a:gridCol w="1524000"/>
              </a:tblGrid>
              <a:tr h="508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技术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B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版本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B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用途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BA">
                        <a:alpha val="100000"/>
                      </a:srgbClr>
                    </a:solidFill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Nacos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v2.1.0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注册发现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Spring Cloud Gateway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API 网关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MyBatis-Plus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3.5.2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ORM 框架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MySQL / Redis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8.0 / 7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存储 / 缓存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9" id="9"/>
          <p:cNvSpPr txBox="true"/>
          <p:nvPr/>
        </p:nvSpPr>
        <p:spPr>
          <a:xfrm rot="0" flipH="false" flipV="false">
            <a:off x="1016000" y="5207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tru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设计要点：</a:t>
            </a:r>
            <a:r>
              <a:rPr lang="en-US" b="fals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采用 Spring Cloud Alibaba 2021.x 稳定版技术栈，网关统一鉴权，服务通过 Nacos 注册发现，OpenFeign 实现声明式服务间调用。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MyBatis-Plus 简化 CRUD 开发，Redis 存储登录 Token，实现网关层统一校验。</a:t>
            </a:r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016000" y="6350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4A3B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直聘通 · 在线招聘求职平台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9906000" y="6350000"/>
            <a:ext cx="127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4A3B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05 / 12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02 · 系统架构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952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1C5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前端技术栈 · Vue3 + Element Plus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64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1968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0308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核心技术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24765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1C5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Vue 3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2819400"/>
            <a:ext cx="482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Composition API · 组合式 API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16000" y="32385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1C5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Vite 6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016000" y="3581400"/>
            <a:ext cx="482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前端构建工具 · 极速冷启动与 HMR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016000" y="40005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1C5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Element Plus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016000" y="4343400"/>
            <a:ext cx="482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Vue3 组件库 · 表单 / 表格 / 布局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016000" y="47625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1C5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vue-router + axios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016000" y="5105400"/>
            <a:ext cx="482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路由管理 · HTTP 请求封装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6350000" y="1968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0308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前端架构设计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2413000"/>
            <a:ext cx="4826000" cy="3175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6604000" y="2667000"/>
            <a:ext cx="4318000" cy="285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66666"/>
              </a:lnSpc>
              <a:defRPr/>
            </a:pPr>
            <a:r>
              <a:rPr lang="en-US" b="tru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页面结构</a:t>
            </a:r>
            <a:r>
              <a:rPr lang="en-US" b="fals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  <a:endParaRPr lang="en-US" sz="1100"/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首页 / 职位列表 / 职位详情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简历编辑 / 投递记录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职位发布 / 收到简历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在线沟通窗口</a:t>
            </a:r>
          </a:p>
          <a:p>
            <a:pPr algn="l" marL="0" indent="0">
              <a:lnSpc>
                <a:spcPct val="166666"/>
              </a:lnSpc>
            </a:pPr>
            <a:r>
              <a:rPr lang="en-US" b="tru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关键机制</a:t>
            </a:r>
            <a:r>
              <a:rPr lang="en-US" b="fals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Token 存入 localStorage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axios 拦截器统一加 Authorization 头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IM 消息 3 秒轮询刷新</a:t>
            </a:r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1016000" y="5778500"/>
            <a:ext cx="762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开发端口：5180 · /api 代理到网关 18090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016000" y="6350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4A3B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直聘通 · 在线招聘求职平台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9906000" y="6350000"/>
            <a:ext cx="127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4A3B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06 / 12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03 · 核心功能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952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1C5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用户注册登录与网关统一鉴权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64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1968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0308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双身份注册体系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413000"/>
            <a:ext cx="2286000" cy="1270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206500" y="2603500"/>
            <a:ext cx="190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1C5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求职者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206500" y="2984500"/>
            <a:ext cx="190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用户名 / 密码注册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维护在线简历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浏览投递岗位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556000" y="2413000"/>
            <a:ext cx="2286000" cy="1270000"/>
          </a:xfrm>
          <a:prstGeom prst="roundRect">
            <a:avLst>
              <a:gd name="adj" fmla="val 0"/>
            </a:avLst>
          </a:prstGeom>
          <a:solidFill>
            <a:srgbClr val="D4E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3746500" y="2603500"/>
            <a:ext cx="190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308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招聘者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3746500" y="2984500"/>
            <a:ext cx="190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00308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选择企业身份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00308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填写公司 / 职位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00308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发布管理岗位</a:t>
            </a:r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016000" y="4064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0308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关键接口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016000" y="4508500"/>
            <a:ext cx="482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200">
                <a:solidFill>
                  <a:srgbClr val="0070BA"/>
                </a:solidFill>
                <a:latin typeface="Consolas"/>
                <a:ea typeface="Consolas"/>
                <a:cs typeface="Consolas"/>
                <a:sym typeface="Consolas"/>
              </a:rPr>
              <a:t>POST /user/register</a:t>
            </a:r>
            <a:r>
              <a:rPr lang="en-US" b="false" i="false" strike="noStrike" u="none"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注册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200">
                <a:solidFill>
                  <a:srgbClr val="0070BA"/>
                </a:solidFill>
                <a:latin typeface="Consolas"/>
                <a:ea typeface="Consolas"/>
                <a:cs typeface="Consolas"/>
                <a:sym typeface="Consolas"/>
              </a:rPr>
              <a:t>POST /user/login</a:t>
            </a:r>
            <a:r>
              <a:rPr lang="en-US" b="false" i="false" strike="noStrike" u="none"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登录返回 Token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200">
                <a:solidFill>
                  <a:srgbClr val="0070BA"/>
                </a:solidFill>
                <a:latin typeface="Consolas"/>
                <a:ea typeface="Consolas"/>
                <a:cs typeface="Consolas"/>
                <a:sym typeface="Consolas"/>
              </a:rPr>
              <a:t>POST /user/logout</a:t>
            </a:r>
            <a:r>
              <a:rPr lang="en-US" b="false" i="false" strike="noStrike" u="none"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退出登录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200">
                <a:solidFill>
                  <a:srgbClr val="0070BA"/>
                </a:solidFill>
                <a:latin typeface="Consolas"/>
                <a:ea typeface="Consolas"/>
                <a:cs typeface="Consolas"/>
                <a:sym typeface="Consolas"/>
              </a:rPr>
              <a:t>GET /user/info</a:t>
            </a:r>
            <a:r>
              <a:rPr lang="en-US" b="false" i="false" strike="noStrike" u="none"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获取当前用户信息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6350000" y="1968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0308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网关鉴权流程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6350000" y="2476500"/>
            <a:ext cx="38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70B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6794500" y="2476500"/>
            <a:ext cx="4381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前端请求携带 Authorization Token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5209210" flipH="false" flipV="false">
            <a:off x="6426200" y="2927526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 txBox="true"/>
          <p:nvPr/>
        </p:nvSpPr>
        <p:spPr>
          <a:xfrm rot="0" flipH="false" flipV="false">
            <a:off x="6350000" y="3111500"/>
            <a:ext cx="38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70B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6794500" y="3111500"/>
            <a:ext cx="4381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网关拦截器校验 Token 是否有效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5209210" flipH="false" flipV="false">
            <a:off x="6426200" y="3562526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 txBox="true"/>
          <p:nvPr/>
        </p:nvSpPr>
        <p:spPr>
          <a:xfrm rot="0" flipH="false" flipV="false">
            <a:off x="6350000" y="3746500"/>
            <a:ext cx="38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70B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3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6794500" y="3746500"/>
            <a:ext cx="4381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从 Redis 读取用户身份信息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5209210" flipH="false" flipV="false">
            <a:off x="6426200" y="4197526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 txBox="true"/>
          <p:nvPr/>
        </p:nvSpPr>
        <p:spPr>
          <a:xfrm rot="0" flipH="false" flipV="false">
            <a:off x="6350000" y="4381500"/>
            <a:ext cx="38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70B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4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6794500" y="4381500"/>
            <a:ext cx="4381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向下游服务透传 X-UserId / X-Role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5209210" flipH="false" flipV="false">
            <a:off x="6426200" y="4832526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 txBox="true"/>
          <p:nvPr/>
        </p:nvSpPr>
        <p:spPr>
          <a:xfrm rot="0" flipH="false" flipV="false">
            <a:off x="6350000" y="5016500"/>
            <a:ext cx="38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70B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5</a:t>
            </a:r>
            <a:endParaRPr lang="en-US" sz="1100"/>
          </a:p>
        </p:txBody>
      </p:sp>
      <p:sp>
        <p:nvSpPr>
          <p:cNvPr name="AutoShape 28" id="28"/>
          <p:cNvSpPr txBox="true"/>
          <p:nvPr/>
        </p:nvSpPr>
        <p:spPr>
          <a:xfrm rot="0" flipH="false" flipV="false">
            <a:off x="6794500" y="5016500"/>
            <a:ext cx="4381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路由转发到目标微服务处理业务</a:t>
            </a:r>
            <a:endParaRPr lang="en-US" sz="1100"/>
          </a:p>
        </p:txBody>
      </p:sp>
      <p:sp>
        <p:nvSpPr>
          <p:cNvPr name="AutoShape 29" id="29"/>
          <p:cNvSpPr txBox="true"/>
          <p:nvPr/>
        </p:nvSpPr>
        <p:spPr>
          <a:xfrm rot="0" flipH="false" flipV="false">
            <a:off x="6350000" y="5588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公开接口（登录注册 / 岗位浏览）无需 Token，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其余业务接口均需经过网关鉴权校验。</a:t>
            </a:r>
          </a:p>
        </p:txBody>
      </p:sp>
      <p:sp>
        <p:nvSpPr>
          <p:cNvPr name="AutoShape 30" id="30"/>
          <p:cNvSpPr txBox="true"/>
          <p:nvPr/>
        </p:nvSpPr>
        <p:spPr>
          <a:xfrm rot="0" flipH="false" flipV="false">
            <a:off x="1016000" y="6350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4A3B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直聘通 · 在线招聘求职平台</a:t>
            </a:r>
            <a:endParaRPr lang="en-US" sz="1100"/>
          </a:p>
        </p:txBody>
      </p:sp>
      <p:sp>
        <p:nvSpPr>
          <p:cNvPr name="AutoShape 31" id="31"/>
          <p:cNvSpPr txBox="true"/>
          <p:nvPr/>
        </p:nvSpPr>
        <p:spPr>
          <a:xfrm rot="0" flipH="false" flipV="false">
            <a:off x="9906000" y="6350000"/>
            <a:ext cx="127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4A3B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07 / 12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03 · 核心功能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952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1C5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岗位发布浏览与简历投递全流程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64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1968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0308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岗位服务 · service-job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2476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01C5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招聘者侧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2857500"/>
            <a:ext cx="482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发布岗位（标题 / 薪资 / 学历 / 经验 / 标签）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查看自己发布的岗位列表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岗位下线 / 重新上线</a:t>
            </a:r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16000" y="4064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01C5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求职者侧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016000" y="4445000"/>
            <a:ext cx="482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关键字 / 城市 / 学历筛选 + 分页浏览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热门搜索词与热门职位推荐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查看职位详情与任职要求</a:t>
            </a:r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6350000" y="1968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0308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简历投递状态流转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0" y="2540000"/>
            <a:ext cx="1016000" cy="4572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6350000" y="2603500"/>
            <a:ext cx="101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待查看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98194" flipH="false" flipV="false">
            <a:off x="7366091" y="2762250"/>
            <a:ext cx="44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748B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7874000" y="2540000"/>
            <a:ext cx="1016000" cy="457200"/>
          </a:xfrm>
          <a:prstGeom prst="roundRect">
            <a:avLst>
              <a:gd name="adj" fmla="val 0"/>
            </a:avLst>
          </a:prstGeom>
          <a:solidFill>
            <a:srgbClr val="D4E5F7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874000" y="2603500"/>
            <a:ext cx="101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00308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已查看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98194" flipH="false" flipV="false">
            <a:off x="8890091" y="2762250"/>
            <a:ext cx="44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748B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9398000" y="2540000"/>
            <a:ext cx="1016000" cy="457200"/>
          </a:xfrm>
          <a:prstGeom prst="roundRect">
            <a:avLst>
              <a:gd name="adj" fmla="val 0"/>
            </a:avLst>
          </a:prstGeom>
          <a:solidFill>
            <a:srgbClr val="0070B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9398000" y="2603500"/>
            <a:ext cx="101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邀面试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5298918" flipH="false" flipV="false">
            <a:off x="8166100" y="3206843"/>
            <a:ext cx="431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20" id="20"/>
          <p:cNvCxnSpPr/>
          <p:nvPr/>
        </p:nvCxnSpPr>
        <p:spPr>
          <a:xfrm rot="-42969" flipH="false" flipV="false">
            <a:off x="7874040" y="3422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21" id="21"/>
          <p:cNvCxnSpPr/>
          <p:nvPr/>
        </p:nvCxnSpPr>
        <p:spPr>
          <a:xfrm rot="5262563" flipH="false" flipV="false">
            <a:off x="8223250" y="3581527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7874000" y="3746500"/>
            <a:ext cx="1016000" cy="4064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7874000" y="3797300"/>
            <a:ext cx="101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不合适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6350000" y="4572000"/>
            <a:ext cx="482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true" i="false" strike="noStrike" u="none"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投递流程：</a:t>
            </a:r>
            <a:r>
              <a:rPr lang="en-US" b="false" i="false" strike="noStrike" u="none"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求职者维护简历后一键投递，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招聘者收到简历后可标记「已查看 / 邀面试 / 不合适」。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双方可通过 IM 模块发起在线沟通，推进面试流程。</a:t>
            </a:r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1016000" y="6350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4A3B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直聘通 · 在线招聘求职平台</a:t>
            </a:r>
            <a:endParaRPr lang="en-US" sz="1100"/>
          </a:p>
        </p:txBody>
      </p:sp>
      <p:sp>
        <p:nvSpPr>
          <p:cNvPr name="AutoShape 26" id="26"/>
          <p:cNvSpPr txBox="true"/>
          <p:nvPr/>
        </p:nvSpPr>
        <p:spPr>
          <a:xfrm rot="0" flipH="false" flipV="false">
            <a:off x="9906000" y="6350000"/>
            <a:ext cx="127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4A3B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08 / 12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03 · 核心功能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952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1C5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在线沟通与智能匹配助手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64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1968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0308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在线沟通 · service-im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2476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01C5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核心机制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2857500"/>
            <a:ext cx="482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求职者点击「立即沟通」建立会话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双方收发文本消息，关联岗位上下文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未读数双向计数（unread_a / unread_b）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前端 3 秒轮询刷新消息列表</a:t>
            </a:r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16000" y="4572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01C5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数据表设计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016000" y="4953000"/>
            <a:ext cx="482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conversation 会话表：双方用户 / 关联岗位 / 最后消息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message 消息表：会话 ID / 发送人 / 内容 / 已读标记</a:t>
            </a:r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6350000" y="1968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0308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智能匹配 · service-match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6350000" y="2476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01C5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岗位打分推荐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6350000" y="2857500"/>
            <a:ext cx="482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基于求职者简历的技能标签、期望城市、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期望薪资、学历背景，对全部在招岗位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进行多维度打分并排序推荐。</a:t>
            </a:r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6350000" y="4064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01C5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自然语言助手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6350000" y="4445000"/>
            <a:ext cx="482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支持自然语言关键词检索岗位，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并自动生成个性化推荐话术，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帮助求职者快速找到合适职位。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5588000"/>
            <a:ext cx="4826000" cy="508000"/>
          </a:xfrm>
          <a:prstGeom prst="roundRect">
            <a:avLst>
              <a:gd name="adj" fmla="val 0"/>
            </a:avLst>
          </a:prstGeom>
          <a:solidFill>
            <a:srgbClr val="D4E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6540500" y="5689600"/>
            <a:ext cx="4445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00308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通过 OpenFeign 跨服务调用 job / resume 接口聚合数据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1016000" y="6350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4A3B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直聘通 · 在线招聘求职平台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9906000" y="6350000"/>
            <a:ext cx="127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4A3B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09 / 12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04 · 数据库设计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952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1C5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按业务域分库 · 4 个独立数据库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64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16000" y="2032000"/>
          <a:ext cx="10160000" cy="355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1524000"/>
                <a:gridCol w="2032000"/>
                <a:gridCol w="4572000"/>
              </a:tblGrid>
              <a:tr h="546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数据库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对应服务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主要字段说明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7493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00308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recruit_user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service-user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user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用户名 / 密码 MD5 / 角色 / 公司 / 职位头衔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93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00308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recruit_job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service-job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job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标题 / 分类 / 城市 / 薪资 / 学历 / 经验 / 标签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93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00308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recruit_resume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service-resume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resume / delivery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简历信息 / 技能标签 / 投递记录与状态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00308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recruit_im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service-im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conversation / message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会话双方 / 关联岗位 / 消息内容 / 已读标记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6" id="6"/>
          <p:cNvSpPr txBox="true"/>
          <p:nvPr/>
        </p:nvSpPr>
        <p:spPr>
          <a:xfrm rot="0" flipH="false" flipV="false">
            <a:off x="1016000" y="5842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设计要点：按微服务业务域垂直分库，服务间数据隔离，跨服务数据通过 OpenFeign 接口调用获取。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6350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4A3B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直聘通 · 在线招聘求职平台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9906000" y="6350000"/>
            <a:ext cx="127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4A3B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10 / 12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05 · 部署运行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952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1C5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Docker Compose 一键基础设施部署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64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1968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0308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基础设施服务</a:t>
            </a:r>
            <a:endParaRPr lang="en-US" sz="1100"/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16000" y="2413000"/>
          <a:ext cx="4826000" cy="2032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1651000"/>
                <a:gridCol w="1651000"/>
              </a:tblGrid>
              <a:tr h="533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服务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B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镜像版本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B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端口映射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BA">
                        <a:alpha val="100000"/>
                      </a:srgbClr>
                    </a:solidFill>
                  </a:tcPr>
                </a:tc>
              </a:tr>
              <a:tr h="4953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MySQL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8.0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13308:3306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53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Redis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7-alpine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6380:6379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Nacos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v2.1.0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8858:8848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7" id="7"/>
          <p:cNvSpPr txBox="true"/>
          <p:nvPr/>
        </p:nvSpPr>
        <p:spPr>
          <a:xfrm rot="0" flipH="false" flipV="false">
            <a:off x="1016000" y="46990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执行 </a:t>
            </a:r>
            <a:r>
              <a:rPr lang="en-US" b="false" i="false" strike="noStrike" u="none" sz="12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rPr>
              <a:t>docker compose up -d</a:t>
            </a:r>
            <a:r>
              <a:rPr lang="en-US" b="false" i="false" strike="noStrike" u="none"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即可启动全部中间件，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端口刻意避开本机其他项目，避免冲突。</a:t>
            </a:r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6350000" y="1968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0308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启动流程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6350000" y="2476500"/>
            <a:ext cx="38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70B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6794500" y="2476500"/>
            <a:ext cx="4381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启动 MySQL / Redis / Nacos 基础设施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6350000" y="2921000"/>
            <a:ext cx="38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70B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6794500" y="2921000"/>
            <a:ext cx="4381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执行 init.sql 初始化 4 个数据库与演示数据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6350000" y="3365500"/>
            <a:ext cx="38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70B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3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6794500" y="3365500"/>
            <a:ext cx="4381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依次启动 5 个后端微服务 + Gateway 网关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6350000" y="3810000"/>
            <a:ext cx="38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70B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4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6794500" y="3810000"/>
            <a:ext cx="4381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前端 npm install &amp;&amp; npm run dev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350000" y="4254500"/>
            <a:ext cx="38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70B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5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6794500" y="4254500"/>
            <a:ext cx="4381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34155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访问 http://localhost:5180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350000" y="4953000"/>
            <a:ext cx="4826000" cy="1016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6540500" y="5080000"/>
            <a:ext cx="444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true" i="false" strike="noStrike" u="none"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演示账号：</a:t>
            </a:r>
            <a:r>
              <a:rPr lang="en-US" b="false" i="false" strike="noStrike" u="none"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1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求职者：demo / 123456　　招聘者：hr001 / 123456</a:t>
            </a:r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1016000" y="6350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4A3B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直聘通 · 在线招聘求职平台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9906000" y="6350000"/>
            <a:ext cx="127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4A3B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11 / 12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06 · 总结展望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952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1C5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项目成果与后续优化方向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64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032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0308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已完成成果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2540000"/>
            <a:ext cx="4826000" cy="355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66666"/>
              </a:lnSpc>
              <a:defRPr/>
            </a:pPr>
            <a:r>
              <a:rPr lang="en-US" b="tru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微服务架构落地</a:t>
            </a:r>
            <a:r>
              <a:rPr lang="en-US" b="fals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  <a:endParaRPr lang="en-US" sz="1100"/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7 个模块按业务域拆分，独立部署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Spring Cloud Gateway 统一鉴权入口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Nacos 注册发现 + OpenFeign 服务调用</a:t>
            </a:r>
          </a:p>
          <a:p>
            <a:pPr algn="l" marL="0" indent="0">
              <a:lnSpc>
                <a:spcPct val="166666"/>
              </a:lnSpc>
            </a:pPr>
            <a:r>
              <a:rPr lang="en-US" b="tru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完整业务闭环</a:t>
            </a:r>
            <a:r>
              <a:rPr lang="en-US" b="fals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双角色注册登录、简历投递全流程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在线沟通 IM + 智能匹配推荐</a:t>
            </a:r>
          </a:p>
          <a:p>
            <a:pPr algn="l" marL="0" indent="0">
              <a:lnSpc>
                <a:spcPct val="166666"/>
              </a:lnSpc>
            </a:pPr>
            <a:r>
              <a:rPr lang="en-US" b="tru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工程化实践</a:t>
            </a:r>
            <a:r>
              <a:rPr lang="en-US" b="fals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Docker Compose 一键基础设施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分库设计 + MyBatis-Plus 数据访问层</a:t>
            </a:r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6350000" y="2032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03087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后续优化方向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2540000"/>
            <a:ext cx="4826000" cy="3302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6604000" y="2794000"/>
            <a:ext cx="43180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66666"/>
              </a:lnSpc>
              <a:defRPr/>
            </a:pPr>
            <a:r>
              <a:rPr lang="en-US" b="tru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实时通信升级</a:t>
            </a:r>
            <a:r>
              <a:rPr lang="en-US" b="fals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  <a:endParaRPr lang="en-US" sz="1100"/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WebSocket 替代轮询，提升消息实时性</a:t>
            </a:r>
          </a:p>
          <a:p>
            <a:pPr algn="l" marL="0" indent="0">
              <a:lnSpc>
                <a:spcPct val="166666"/>
              </a:lnSpc>
            </a:pPr>
            <a:r>
              <a:rPr lang="en-US" b="tru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匹配算法优化</a:t>
            </a:r>
            <a:r>
              <a:rPr lang="en-US" b="fals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引入向量检索，升级为语义匹配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增加用户行为反馈，持续迭代推荐效果</a:t>
            </a:r>
          </a:p>
          <a:p>
            <a:pPr algn="l" marL="0" indent="0">
              <a:lnSpc>
                <a:spcPct val="166666"/>
              </a:lnSpc>
            </a:pPr>
            <a:r>
              <a:rPr lang="en-US" b="tru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系统健壮性</a:t>
            </a:r>
            <a:r>
              <a:rPr lang="en-US" b="fals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接口限流熔断（Sentinel）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· 分布式链路追踪与监控告警</a:t>
            </a:r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016000" y="5969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true" strike="noStrike" u="none" sz="1400">
                <a:solidFill>
                  <a:srgbClr val="0070B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基于 Spring Cloud Alibaba 微服务架构，完整实现招聘求职全流程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016000" y="64135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4A3B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直聘通 · 在线招聘求职平台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9906000" y="6413500"/>
            <a:ext cx="127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4A3B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12 / 12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