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封面：一句话介绍项目——一个仿 BOSS 直聘的招聘平台，后端用 Spring Cloud Alibaba 做了微服务拆分，前端 Vue3，并接入了 AI 求职助手。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先说痛点，再说我们怎么解：把沟通前置，并用规则匹配和大模型两层能力提升匹配效率。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功能按角色分两栏，中间这条虚线是「在线沟通」——它是打通求职者与招聘者的关键环节。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选型逻辑：微服务用 Spring Cloud Alibaba 全家桶，注册中心选 Nacos；数据按业务分库；前端 Vue3 的响应式写法更适合快速迭代。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这是核心页：前端只认网关 18090，网关做鉴权和路由；五个服务各自注册到 Nacos；跨服务取数走 Feign，不跨库直连。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重点讲 common 模块：统一响应、异常、Feign 客户端和 DTO 都下沉到这里，避免各服务重复造轮子。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强调垂直分库：user、job、resume、im 四个库互相独立，跨库查询通过服务接口而不是连别人的库。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这一步是全系统的安全边界：Token 只在网关校验一次，下游只看请求头，避免每个服务都写一遍鉴权逻辑。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这里有个细节容易被问：薪资不是简单的“岗位薪资包含筛选值”，而是两个区间求交集，否则 12-20K 的岗位会漏掉。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算法不复杂但可解释：每一项加分都有理由，前端能把「为什么推荐」直接展示给用户，比黑盒模型更可信。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是加分项而不是主链路：即使大模型不可用，接口仍然返回规则回复，页面不会白屏。这一点答辩时值得强调。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前端不是重点但要点到：统一请求封装让每个接口调用都很薄，页面只需要关心数据。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挑一两个讲透即可，比如 Nacos 版本问题：报错信息是 Client not connected，根因是 gRPC 端口不一致。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收尾：强调项目把微服务的关键链路（注册发现、网关鉴权、服务间调用）都跑通了，后续优化方向也很清楚。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8072"/>
          </a:xfrm>
          <a:prstGeom prst="rect">
            <a:avLst/>
          </a:prstGeom>
          <a:solidFill>
            <a:srgbClr val="00BEBD"/>
          </a:solidFill>
          <a:ln w="12700">
            <a:solidFill>
              <a:srgbClr val="00BEB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188720"/>
            <a:ext cx="2377440" cy="237744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直聘通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68096" y="20574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E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在线招聘求职平台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86384" y="2697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Spring Cloud Alibaba + Vue3 的微服务实践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86384" y="3246120"/>
            <a:ext cx="1005840" cy="41148"/>
          </a:xfrm>
          <a:prstGeom prst="rect">
            <a:avLst/>
          </a:prstGeom>
          <a:solidFill>
            <a:srgbClr val="00BEBD"/>
          </a:solidFill>
          <a:ln w="12700">
            <a:solidFill>
              <a:srgbClr val="00BE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3520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答辩人：____________      指导教师：____________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 10 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" y="4434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个微服务模块  ·  47 个 Java 类  ·  11 个 Vue 页面  ·  147 个在招岗位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384048"/>
          </a:xfrm>
          <a:prstGeom prst="rect">
            <a:avLst/>
          </a:prstGeom>
          <a:solidFill>
            <a:srgbClr val="00BEBD"/>
          </a:solidFill>
          <a:ln w="12700">
            <a:solidFill>
              <a:srgbClr val="00B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为什么做这个项目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招聘平台的核心矛盾：信息多，但匹配慢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931920" cy="3017520"/>
          </a:xfrm>
          <a:prstGeom prst="roundRect">
            <a:avLst>
              <a:gd name="adj" fmla="val 2121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4630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行业痛点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信息不对称：求职者难判断岗位是否合适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沟通链路长：投递后长时间没有反馈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匹配效率低：只能靠关键词一页页翻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简历与岗位割裂：技能、城市、薪资难对齐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931920" cy="3017520"/>
          </a:xfrm>
          <a:prstGeom prst="roundRect">
            <a:avLst>
              <a:gd name="adj" fmla="val 2121"/>
            </a:avLst>
          </a:prstGeom>
          <a:solidFill>
            <a:srgbClr val="F2FBFA"/>
          </a:solidFill>
          <a:ln w="12700">
            <a:solidFill>
              <a:srgbClr val="CFEEED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4630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本项目目标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83480" y="187452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双角色闭环：求职者与招聘者全流程在线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沟通前置：先聊天再投递，缩短反馈链路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多维筛选：行业 / 城市 / 经验 / 学历 / 薪资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智能增强：规则匹配 + 大模型求职顾问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48280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直聘通 · 在线招聘求职平台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503920" y="482803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384048"/>
          </a:xfrm>
          <a:prstGeom prst="rect">
            <a:avLst/>
          </a:prstGeom>
          <a:solidFill>
            <a:srgbClr val="00BEBD"/>
          </a:solidFill>
          <a:ln w="12700">
            <a:solidFill>
              <a:srgbClr val="00B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功能全景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两类角色，一套闭环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79476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3898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E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求职者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注册登录（Token 登录态）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职位浏览 / 关键词搜索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六维筛选 + 三种排序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在线维护简历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一键投递并查看进度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与招聘官在线沟通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智能匹配 / AI 求职助手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234440"/>
            <a:ext cx="379476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13898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E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招聘者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173736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发布职位（含行业分类）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下线职位 / 管理在招岗位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查看收到的简历投递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标记已查看 / 邀面试 / 不合适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回复求职者消息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按行业查看岗位数据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70832" y="1737360"/>
            <a:ext cx="0" cy="2194560"/>
          </a:xfrm>
          <a:prstGeom prst="line">
            <a:avLst/>
          </a:prstGeom>
          <a:noFill/>
          <a:ln w="12700">
            <a:solidFill>
              <a:srgbClr val="CFEEED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187952" y="260604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E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BE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沟通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8280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直聘通 · 在线招聘求职平台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503920" y="482803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384048"/>
          </a:xfrm>
          <a:prstGeom prst="rect">
            <a:avLst/>
          </a:prstGeom>
          <a:solidFill>
            <a:srgbClr val="00BEBD"/>
          </a:solidFill>
          <a:ln w="12700">
            <a:solidFill>
              <a:srgbClr val="00B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技术选型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为什么是 Spring Cloud Alibaba + Vue3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651760" cy="292608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813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微服务底座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810512"/>
            <a:ext cx="548640" cy="32004"/>
          </a:xfrm>
          <a:prstGeom prst="rect">
            <a:avLst/>
          </a:prstGeom>
          <a:solidFill>
            <a:srgbClr val="00BEBD"/>
          </a:solidFill>
          <a:ln w="12700">
            <a:solidFill>
              <a:srgbClr val="00BE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6596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Spring Boot 2.6.13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Spring Cloud 2021.0.5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Spring Cloud Alibaba 2021.0.5.0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Nacos 注册发现 / Gateway 网关 / OpenFeign 调用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55848" y="1280160"/>
            <a:ext cx="2651760" cy="292608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84448" y="14813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数据与缓存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84448" y="1810512"/>
            <a:ext cx="548640" cy="32004"/>
          </a:xfrm>
          <a:prstGeom prst="rect">
            <a:avLst/>
          </a:prstGeom>
          <a:solidFill>
            <a:srgbClr val="00BEBD"/>
          </a:solidFill>
          <a:ln w="12700">
            <a:solidFill>
              <a:srgbClr val="00BE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4448" y="196596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MySQL 8.0（4 个业务库）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MyBatis-Plus 3.5.2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Redis（Token 存储）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84448" y="30632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按业务垂直分库，服务之间不共享表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08776" y="1280160"/>
            <a:ext cx="2651760" cy="292608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37376" y="14813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前端工程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37376" y="1810512"/>
            <a:ext cx="548640" cy="32004"/>
          </a:xfrm>
          <a:prstGeom prst="rect">
            <a:avLst/>
          </a:prstGeom>
          <a:solidFill>
            <a:srgbClr val="00BEBD"/>
          </a:solidFill>
          <a:ln w="12700">
            <a:solidFill>
              <a:srgbClr val="00BE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196596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3.5 + Vite 6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Element Plus 2.9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vue-router + axios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37376" y="30632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组合式 API，页面按业务拆分，构建秒级热更新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8280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直聘通 · 在线招聘求职平台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503920" y="482803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384048"/>
          </a:xfrm>
          <a:prstGeom prst="rect">
            <a:avLst/>
          </a:prstGeom>
          <a:solidFill>
            <a:srgbClr val="00BEBD"/>
          </a:solidFill>
          <a:ln w="12700">
            <a:solidFill>
              <a:srgbClr val="00B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系统架构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前端只与网关通信，服务之间通过注册中心发现彼此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520440" y="1207008"/>
            <a:ext cx="2103120" cy="475488"/>
          </a:xfrm>
          <a:prstGeom prst="roundRect">
            <a:avLst>
              <a:gd name="adj" fmla="val 13462"/>
            </a:avLst>
          </a:prstGeom>
          <a:solidFill>
            <a:srgbClr val="F2FBFA"/>
          </a:solidFill>
          <a:ln w="12700">
            <a:solidFill>
              <a:srgbClr val="CFEEED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520440" y="120700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浏览器 / Vue3 前端（5180）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700784"/>
            <a:ext cx="0" cy="219456"/>
          </a:xfrm>
          <a:prstGeom prst="line">
            <a:avLst/>
          </a:prstGeom>
          <a:noFill/>
          <a:ln w="19050">
            <a:solidFill>
              <a:srgbClr val="BFC6D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46120" y="1938528"/>
            <a:ext cx="2651760" cy="502920"/>
          </a:xfrm>
          <a:prstGeom prst="roundRect">
            <a:avLst>
              <a:gd name="adj" fmla="val 12727"/>
            </a:avLst>
          </a:prstGeom>
          <a:solidFill>
            <a:srgbClr val="1F2329"/>
          </a:solidFill>
          <a:ln w="12700">
            <a:solidFill>
              <a:srgbClr val="1F2329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9385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API 网关  :18090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46120" y="21945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FEE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路由 + 统一鉴权 + 身份透传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0" y="2459736"/>
            <a:ext cx="0" cy="201168"/>
          </a:xfrm>
          <a:prstGeom prst="line">
            <a:avLst/>
          </a:prstGeom>
          <a:noFill/>
          <a:ln w="19050">
            <a:solidFill>
              <a:srgbClr val="BFC6D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58368" y="2697480"/>
            <a:ext cx="7827264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61872" y="2697480"/>
            <a:ext cx="0" cy="164592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862072"/>
            <a:ext cx="144475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926080"/>
            <a:ext cx="14447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service-user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3127248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E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:18101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03504" y="3310128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注册 / 登录 / Token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898648" y="2697480"/>
            <a:ext cx="0" cy="164592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85416" y="2862072"/>
            <a:ext cx="144475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185416" y="2926080"/>
            <a:ext cx="14447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service-job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85416" y="3127248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E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:18102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240280" y="3310128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职位发布 / 检索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35424" y="2697480"/>
            <a:ext cx="0" cy="164592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22192" y="2862072"/>
            <a:ext cx="144475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822192" y="2926080"/>
            <a:ext cx="14447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service-resume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822192" y="3127248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E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:18103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877056" y="3310128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简历 / 投递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72200" y="2697480"/>
            <a:ext cx="0" cy="164592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58968" y="2862072"/>
            <a:ext cx="144475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58968" y="2926080"/>
            <a:ext cx="14447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service-im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58968" y="3127248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E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:18104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513832" y="3310128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 / 消息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808976" y="2697480"/>
            <a:ext cx="0" cy="164592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95744" y="2862072"/>
            <a:ext cx="144475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095744" y="2926080"/>
            <a:ext cx="14447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service-match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095744" y="3127248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E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:18105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150608" y="3310128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智能匹配 / AI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48640" y="384048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公共依赖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737360" y="3803904"/>
            <a:ext cx="2286000" cy="566928"/>
          </a:xfrm>
          <a:prstGeom prst="roundRect">
            <a:avLst>
              <a:gd name="adj" fmla="val 1129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865376" y="384048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Nacos  :8848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865376" y="405993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服务注册与发现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251960" y="3803904"/>
            <a:ext cx="2286000" cy="566928"/>
          </a:xfrm>
          <a:prstGeom prst="roundRect">
            <a:avLst>
              <a:gd name="adj" fmla="val 1129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379976" y="384048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Redis  :6379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379976" y="405993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 / 登录态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766560" y="3803904"/>
            <a:ext cx="2286000" cy="566928"/>
          </a:xfrm>
          <a:prstGeom prst="roundRect">
            <a:avLst>
              <a:gd name="adj" fmla="val 1129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894576" y="384048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MySQL  :3306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894576" y="405993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个业务库 / 6 张表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48640" y="446227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服务间调用：service-match 通过 Feign 读取 job / resume 的数据，不直连他人数据库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57200" y="48280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直聘通 · 在线招聘求职平台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503920" y="482803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384048"/>
          </a:xfrm>
          <a:prstGeom prst="rect">
            <a:avLst/>
          </a:prstGeom>
          <a:solidFill>
            <a:srgbClr val="00BEBD"/>
          </a:solidFill>
          <a:ln w="12700">
            <a:solidFill>
              <a:srgbClr val="00B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微服务拆分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个模块、6 个端口，公共能力下沉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81381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52120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模块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E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端口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E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核心职责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EB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recruit-gateway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18090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统一入口：路由转发、Token 鉴权、透传 X-UserId / X-Role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service-user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18101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注册、登录、退出、Token 写入 Redis、用户信息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service-job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18102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职位发布 / 下线、分页检索、行业统计、热门企业聚合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service-resume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18103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简历维护、简历投递、投递状态流转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service-im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18104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会话创建、消息收发、未读数（前端轮询）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service-match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18105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规则匹配打分、AI 求职助手（聚合岗位与简历）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recruit-common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统一响应体 Result、异常、Feign 客户端、跨服务 DTO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拆分原则：按业务边界垂直切分，每个服务独占自己的库表；接口层只依赖 common 提供的 DTO。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7200" y="48280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直聘通 · 在线招聘求职平台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503920" y="482803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384048"/>
          </a:xfrm>
          <a:prstGeom prst="rect">
            <a:avLst/>
          </a:prstGeom>
          <a:solidFill>
            <a:srgbClr val="00BEBD"/>
          </a:solidFill>
          <a:ln w="12700">
            <a:solidFill>
              <a:srgbClr val="00B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数据库设计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个业务库、6 张表，服务各管各的数据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93192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" y="1408176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E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recruit_user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04088" y="169164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04088" y="19933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账号 / 角色 / 公司信息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393192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10328" y="1408176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E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recruit_job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10328" y="169164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job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10328" y="19933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岗位 / 行业分类 / 薪资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697480"/>
            <a:ext cx="393192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" y="2825496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E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recruit_resume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4088" y="310896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resume、delivery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" y="34107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简历与投递记录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2697480"/>
            <a:ext cx="393192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10328" y="2825496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E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recruit_im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0328" y="310896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conversation、message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10328" y="34107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会话与消息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4160520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2FBFA"/>
          </a:solidFill>
          <a:ln w="12700">
            <a:solidFill>
              <a:srgbClr val="CFEEED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4160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数据规模：147 个在招岗位 · 28 个行业分类 · 20 个城市 · 16 个账号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直聘通 · 在线招聘求职平台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503920" y="482803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384048"/>
          </a:xfrm>
          <a:prstGeom prst="rect">
            <a:avLst/>
          </a:prstGeom>
          <a:solidFill>
            <a:srgbClr val="00BEBD"/>
          </a:solidFill>
          <a:ln w="12700">
            <a:solidFill>
              <a:srgbClr val="00B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核心流程一：登录与鉴权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 存 Redis，网关统一校验并透传身份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57200" cy="457200"/>
          </a:xfrm>
          <a:prstGeom prst="ellipse">
            <a:avLst/>
          </a:prstGeom>
          <a:solidFill>
            <a:srgbClr val="00BEBD"/>
          </a:solidFill>
          <a:ln w="12700">
            <a:solidFill>
              <a:srgbClr val="00BE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前端提交账号密码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POST /user/login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87552" y="1554480"/>
            <a:ext cx="1097280" cy="0"/>
          </a:xfrm>
          <a:prstGeom prst="line">
            <a:avLst/>
          </a:prstGeom>
          <a:noFill/>
          <a:ln w="19050">
            <a:solidFill>
              <a:srgbClr val="BFC6D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94560" y="1325880"/>
            <a:ext cx="457200" cy="457200"/>
          </a:xfrm>
          <a:prstGeom prst="ellipse">
            <a:avLst/>
          </a:prstGeom>
          <a:solidFill>
            <a:srgbClr val="00BEBD"/>
          </a:solidFill>
          <a:ln w="12700">
            <a:solidFill>
              <a:srgbClr val="00BE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1874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user 服务校验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03120" y="237744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MD5 比对，生成 Token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24912" y="1554480"/>
            <a:ext cx="1097280" cy="0"/>
          </a:xfrm>
          <a:prstGeom prst="line">
            <a:avLst/>
          </a:prstGeom>
          <a:noFill/>
          <a:ln w="19050">
            <a:solidFill>
              <a:srgbClr val="BFC6D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931920" y="1325880"/>
            <a:ext cx="457200" cy="457200"/>
          </a:xfrm>
          <a:prstGeom prst="ellipse">
            <a:avLst/>
          </a:prstGeom>
          <a:solidFill>
            <a:srgbClr val="00BEBD"/>
          </a:solidFill>
          <a:ln w="12700">
            <a:solidFill>
              <a:srgbClr val="00BE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1874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 写入 Redis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40480" y="237744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recruit:token:{token} = userId:role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462272" y="1554480"/>
            <a:ext cx="1097280" cy="0"/>
          </a:xfrm>
          <a:prstGeom prst="line">
            <a:avLst/>
          </a:prstGeom>
          <a:noFill/>
          <a:ln w="19050">
            <a:solidFill>
              <a:srgbClr val="BFC6D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69280" y="1325880"/>
            <a:ext cx="457200" cy="457200"/>
          </a:xfrm>
          <a:prstGeom prst="ellipse">
            <a:avLst/>
          </a:prstGeom>
          <a:solidFill>
            <a:srgbClr val="00BEBD"/>
          </a:solidFill>
          <a:ln w="12700">
            <a:solidFill>
              <a:srgbClr val="00BE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77840" y="1874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网关校验 Token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577840" y="237744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 Redis，失效则返回 401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199632" y="1554480"/>
            <a:ext cx="1097280" cy="0"/>
          </a:xfrm>
          <a:prstGeom prst="line">
            <a:avLst/>
          </a:prstGeom>
          <a:noFill/>
          <a:ln w="19050">
            <a:solidFill>
              <a:srgbClr val="BFC6D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406640" y="1325880"/>
            <a:ext cx="457200" cy="457200"/>
          </a:xfrm>
          <a:prstGeom prst="ellipse">
            <a:avLst/>
          </a:prstGeom>
          <a:solidFill>
            <a:srgbClr val="00BEBD"/>
          </a:solidFill>
          <a:ln w="12700">
            <a:solidFill>
              <a:srgbClr val="00BEB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0" y="1874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透传身份头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315200" y="237744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X-UserId / X-Role 给下游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2920" y="3246120"/>
            <a:ext cx="8138160" cy="1371600"/>
          </a:xfrm>
          <a:prstGeom prst="roundRect">
            <a:avLst>
              <a:gd name="adj" fmla="val 466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1520" y="33649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设计细节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31520" y="3639312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白名单：登录注册、职位列表 / 详情 / 统计、AI 助手免登录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可选鉴权：AI 助手不强制登录，但带 Token 时会解析身份，用简历做个性化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下游服务不重复校验，只信任网关注入的请求头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8280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直聘通 · 在线招聘求职平台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503920" y="482803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384048"/>
          </a:xfrm>
          <a:prstGeom prst="rect">
            <a:avLst/>
          </a:prstGeom>
          <a:solidFill>
            <a:srgbClr val="00BEBD"/>
          </a:solidFill>
          <a:ln w="12700">
            <a:solidFill>
              <a:srgbClr val="00B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核心流程二：职位检索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六维筛选 + 区间交集，而不是简单包含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298448" cy="420624"/>
          </a:xfrm>
          <a:prstGeom prst="roundRect">
            <a:avLst>
              <a:gd name="adj" fmla="val 43478"/>
            </a:avLst>
          </a:prstGeom>
          <a:solidFill>
            <a:srgbClr val="F2FBFA"/>
          </a:solidFill>
          <a:ln w="12700">
            <a:solidFill>
              <a:srgbClr val="CFEE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BE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20240" y="1325880"/>
            <a:ext cx="1298448" cy="420624"/>
          </a:xfrm>
          <a:prstGeom prst="roundRect">
            <a:avLst>
              <a:gd name="adj" fmla="val 43478"/>
            </a:avLst>
          </a:prstGeom>
          <a:solidFill>
            <a:srgbClr val="F2FBFA"/>
          </a:solidFill>
          <a:ln w="12700">
            <a:solidFill>
              <a:srgbClr val="CFEE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1325880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BE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城市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325880"/>
            <a:ext cx="1298448" cy="420624"/>
          </a:xfrm>
          <a:prstGeom prst="roundRect">
            <a:avLst>
              <a:gd name="adj" fmla="val 43478"/>
            </a:avLst>
          </a:prstGeom>
          <a:solidFill>
            <a:srgbClr val="F2FBFA"/>
          </a:solidFill>
          <a:ln w="12700">
            <a:solidFill>
              <a:srgbClr val="CFEE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325880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BE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经验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892808"/>
            <a:ext cx="1298448" cy="420624"/>
          </a:xfrm>
          <a:prstGeom prst="roundRect">
            <a:avLst>
              <a:gd name="adj" fmla="val 43478"/>
            </a:avLst>
          </a:prstGeom>
          <a:solidFill>
            <a:srgbClr val="F2FBFA"/>
          </a:solidFill>
          <a:ln w="12700">
            <a:solidFill>
              <a:srgbClr val="CFEE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92808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BE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学历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920240" y="1892808"/>
            <a:ext cx="1298448" cy="420624"/>
          </a:xfrm>
          <a:prstGeom prst="roundRect">
            <a:avLst>
              <a:gd name="adj" fmla="val 43478"/>
            </a:avLst>
          </a:prstGeom>
          <a:solidFill>
            <a:srgbClr val="F2FBFA"/>
          </a:solidFill>
          <a:ln w="12700">
            <a:solidFill>
              <a:srgbClr val="CFEE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1892808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BE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薪资区间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37560" y="1892808"/>
            <a:ext cx="1298448" cy="420624"/>
          </a:xfrm>
          <a:prstGeom prst="roundRect">
            <a:avLst>
              <a:gd name="adj" fmla="val 43478"/>
            </a:avLst>
          </a:prstGeom>
          <a:solidFill>
            <a:srgbClr val="F2FBFA"/>
          </a:solidFill>
          <a:ln w="12700">
            <a:solidFill>
              <a:srgbClr val="CFEE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892808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BE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排序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25420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动态条件构造：MyBatis-Plus LambdaQueryWrapper，空值自动跳过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1325880"/>
            <a:ext cx="402336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14447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薪资筛选：区间求交集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17830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岗位区间 12–20K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120640" y="1965960"/>
            <a:ext cx="2011680" cy="237744"/>
          </a:xfrm>
          <a:prstGeom prst="roundRect">
            <a:avLst>
              <a:gd name="adj" fmla="val 38462"/>
            </a:avLst>
          </a:prstGeom>
          <a:solidFill>
            <a:srgbClr val="D9F3F2"/>
          </a:solidFill>
          <a:ln w="12700">
            <a:solidFill>
              <a:srgbClr val="D9F3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3408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筛选区间 15–25K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806440" y="2514600"/>
            <a:ext cx="2011680" cy="237744"/>
          </a:xfrm>
          <a:prstGeom prst="roundRect">
            <a:avLst>
              <a:gd name="adj" fmla="val 38462"/>
            </a:avLst>
          </a:prstGeom>
          <a:solidFill>
            <a:srgbClr val="D9F3F2"/>
          </a:solidFill>
          <a:ln w="12700">
            <a:solidFill>
              <a:srgbClr val="D9F3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06440" y="1965960"/>
            <a:ext cx="1325880" cy="237744"/>
          </a:xfrm>
          <a:prstGeom prst="roundRect">
            <a:avLst>
              <a:gd name="adj" fmla="val 38462"/>
            </a:avLst>
          </a:prstGeom>
          <a:solidFill>
            <a:srgbClr val="00BEBD"/>
          </a:solidFill>
          <a:ln w="12700">
            <a:solidFill>
              <a:srgbClr val="00BEB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92608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E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重叠 15–20K → 命中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0060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条件：job.salary_max ≥ 筛选下限  且  job.salary_min ≤ 筛选上限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02920" y="2788920"/>
            <a:ext cx="3931920" cy="1737360"/>
          </a:xfrm>
          <a:prstGeom prst="roundRect">
            <a:avLst>
              <a:gd name="adj" fmla="val 3684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" y="290779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排序与分页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3182112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最新发布（create_time 倒序）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薪资从高到低 / 从低到高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分页返回 total、records，前端页码联动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8280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直聘通 · 在线招聘求职平台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503920" y="482803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384048"/>
          </a:xfrm>
          <a:prstGeom prst="rect">
            <a:avLst/>
          </a:prstGeom>
          <a:solidFill>
            <a:srgbClr val="00BEBD"/>
          </a:solidFill>
          <a:ln w="12700">
            <a:solidFill>
              <a:srgbClr val="00B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智能匹配算法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加权打分 + 可解释的匹配理由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461772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868680"/>
                <a:gridCol w="2697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维度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E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分值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E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判定规则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EB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基础分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30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岗位在招即得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技能命中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+15 / 项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最多 40 分（岗位标签 ∩ 简历技能）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城市一致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+15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期望城市 = 岗位城市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薪资匹配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+10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期望薪资 ≥ 岗位下限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学历满足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+5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E596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简历学历等级 ≥ 岗位要求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3611880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上限 99 分，结果按分数倒序返回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349240" y="1298448"/>
            <a:ext cx="3291840" cy="2651760"/>
          </a:xfrm>
          <a:prstGeom prst="roundRect">
            <a:avLst>
              <a:gd name="adj" fmla="val 2414"/>
            </a:avLst>
          </a:prstGeom>
          <a:solidFill>
            <a:srgbClr val="F2FBFA"/>
          </a:solidFill>
          <a:ln w="12700">
            <a:solidFill>
              <a:srgbClr val="CFEEED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532120" y="141732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匹配示例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532120" y="1664208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BE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95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6400800" y="193852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匹配度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532120" y="2331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Java 开发工程师 · 字节跳动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武汉 · 15-25K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532120" y="283464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技能匹配 4 项：Java / MySQL / Redis / SpringBoot</a:t>
            </a:r>
            <a:endParaRPr lang="en-US" sz="85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城市一致：武汉</a:t>
            </a:r>
            <a:endParaRPr lang="en-US" sz="85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薪资在区间内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02920" y="3977640"/>
            <a:ext cx="8138160" cy="685800"/>
          </a:xfrm>
          <a:prstGeom prst="roundRect">
            <a:avLst>
              <a:gd name="adj" fmla="val 933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31520" y="397764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 AI 助手的分工：规则匹配负责“算出排序”，大模型负责“解释原因、回答追问”，两者互补。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48280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直聘通 · 在线招聘求职平台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503920" y="482803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384048"/>
          </a:xfrm>
          <a:prstGeom prst="rect">
            <a:avLst/>
          </a:prstGeom>
          <a:solidFill>
            <a:srgbClr val="00BEBD"/>
          </a:solidFill>
          <a:ln w="12700">
            <a:solidFill>
              <a:srgbClr val="00B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技术亮点：AI 求职助手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阿里百炼 qwen-plus + 简历岗位上下文 + 降级兜底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19202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2648" y="1371600"/>
            <a:ext cx="1700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 AI 浮窗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多轮对话 / 快捷提问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459736" y="1664208"/>
            <a:ext cx="201168" cy="0"/>
          </a:xfrm>
          <a:prstGeom prst="line">
            <a:avLst/>
          </a:prstGeom>
          <a:noFill/>
          <a:ln w="19050">
            <a:solidFill>
              <a:srgbClr val="BFC6D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97480" y="1280160"/>
            <a:ext cx="19202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07208" y="1371600"/>
            <a:ext cx="1700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网关 18090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88920" y="16459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可选鉴权，带 Token 透传用户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654296" y="1664208"/>
            <a:ext cx="201168" cy="0"/>
          </a:xfrm>
          <a:prstGeom prst="line">
            <a:avLst/>
          </a:prstGeom>
          <a:noFill/>
          <a:ln w="19050">
            <a:solidFill>
              <a:srgbClr val="BFC6D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92040" y="1280160"/>
            <a:ext cx="19202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01768" y="1371600"/>
            <a:ext cx="1700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service-match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16459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组装上下文 + 调用大模型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848856" y="1664208"/>
            <a:ext cx="201168" cy="0"/>
          </a:xfrm>
          <a:prstGeom prst="line">
            <a:avLst/>
          </a:prstGeom>
          <a:noFill/>
          <a:ln w="19050">
            <a:solidFill>
              <a:srgbClr val="BFC6D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086600" y="1280160"/>
            <a:ext cx="1920240" cy="777240"/>
          </a:xfrm>
          <a:prstGeom prst="roundRect">
            <a:avLst>
              <a:gd name="adj" fmla="val 8235"/>
            </a:avLst>
          </a:prstGeom>
          <a:solidFill>
            <a:srgbClr val="F2FBFA"/>
          </a:solidFill>
          <a:ln w="12700">
            <a:solidFill>
              <a:srgbClr val="CFEEED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96328" y="1371600"/>
            <a:ext cx="1700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阿里百炼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78040" y="16459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qwen-plus（OpenAI 兼容）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02920" y="2377440"/>
            <a:ext cx="2606040" cy="1691640"/>
          </a:xfrm>
          <a:prstGeom prst="roundRect">
            <a:avLst>
              <a:gd name="adj" fmla="val 3784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251460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E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人设限定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2816352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系统提示词约束为「求职顾问」，只答简历、面试、选岗、谈薪，无关话题礼貌拒绝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3291840" y="2377440"/>
            <a:ext cx="2606040" cy="1691640"/>
          </a:xfrm>
          <a:prstGeom prst="roundRect">
            <a:avLst>
              <a:gd name="adj" fmla="val 3784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74720" y="251460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E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上下文注入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74720" y="2816352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每次请求自动附上当前用户简历 + 各行业代表性岗位（每行业至少 1 条）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080760" y="2377440"/>
            <a:ext cx="2606040" cy="1691640"/>
          </a:xfrm>
          <a:prstGeom prst="roundRect">
            <a:avLst>
              <a:gd name="adj" fmla="val 3784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63640" y="251460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E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降级兜底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2816352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超时或异常时不报错，回退为规则匹配回复；前端单独放宽超时到 60 秒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502920" y="422452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效果：未登录可咨询通用求职问题；登录后回答会引用其简历与站内岗位，例如「武汉 15K、2 年 Java，推荐 id=1 字节跳动」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8280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直聘通 · 在线招聘求职平台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503920" y="482803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384048"/>
          </a:xfrm>
          <a:prstGeom prst="rect">
            <a:avLst/>
          </a:prstGeom>
          <a:solidFill>
            <a:srgbClr val="00BEBD"/>
          </a:solidFill>
          <a:ln w="12700">
            <a:solidFill>
              <a:srgbClr val="00B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前端工程与交互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仿 BOSS 首页结构，11 个页面组件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02336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417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页面清单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737360"/>
            <a:ext cx="3611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Home 首页      JobList 职位列表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JobDetail 职位详情  Publish 发布职位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MyResume 简历      Deliveries 投递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Chat 沟通      Match 智能匹配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Login 登录      AiHelper 全局 AI 浮窗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store.js 登录态   api.js 统一请求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280160"/>
            <a:ext cx="3794760" cy="3017520"/>
          </a:xfrm>
          <a:prstGeom prst="roundRect">
            <a:avLst>
              <a:gd name="adj" fmla="val 2121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47488" y="1417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首页信息架构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47488" y="173736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首屏搜索：城市 + 关键词 + 热门职位词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行业导航：28 个行业 / 100+ 二级职能，分 3 页翻页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热招职位：按行业 Tab 切换，卡片展示薪资与标签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热门企业：按在招岗位数聚合，附 3 条在招职位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加入我们：海报 + 实时岗位数据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44348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工程细节：axios 统一拦截（自动带 Token、统一解包 Result、401 跳登录）；状态用轻量 reactive，无需额外状态库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48280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直聘通 · 在线招聘求职平台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503920" y="482803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384048"/>
          </a:xfrm>
          <a:prstGeom prst="rect">
            <a:avLst/>
          </a:prstGeom>
          <a:solidFill>
            <a:srgbClr val="00BEBD"/>
          </a:solidFill>
          <a:ln w="12700">
            <a:solidFill>
              <a:srgbClr val="00B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难点与解决方案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四个真实踩过的坑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9319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408176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EE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69848" y="140817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注册中心版本不兼容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nacos-client 2.2 走 gRPC 9848，本地 1.4.6 服务端连不上，服务启动即退出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BE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改用 Nacos 2.1.0 容器，开放 8848 + 9848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39319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408176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EE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30368" y="140817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薪资筛选逻辑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用包含关系会漏岗位：12-20K 的岗位搜 15-25K 时被判定不匹配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46320" y="21945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BE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改为两区间求交集，SQL 用 ge / le 组合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2852928"/>
            <a:ext cx="39319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298094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EE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69848" y="298094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大模型响应慢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" y="32644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axios 默认 20 秒超时，qwen-plus 长回答会被打断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85800" y="37673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BE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该接口单独放宽到 60 秒，并在后端捕获异常降级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852928"/>
            <a:ext cx="39319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298094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EE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30368" y="298094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跨服务数据获取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46320" y="32644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匹配服务既要用简历又要用岗位，直接查别人的库会破坏边界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46320" y="37673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BE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抽 Feign 客户端 + 共享 DTO，服务间只走接口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直聘通 · 在线招聘求职平台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503920" y="482803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384048"/>
          </a:xfrm>
          <a:prstGeom prst="rect">
            <a:avLst/>
          </a:prstGeom>
          <a:solidFill>
            <a:srgbClr val="00BEBD"/>
          </a:solidFill>
          <a:ln w="12700">
            <a:solidFill>
              <a:srgbClr val="00B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总结与展望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闭环跑通，继续加厚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931920" cy="2926080"/>
          </a:xfrm>
          <a:prstGeom prst="roundRect">
            <a:avLst>
              <a:gd name="adj" fmla="val 2188"/>
            </a:avLst>
          </a:prstGeom>
          <a:solidFill>
            <a:srgbClr val="F2FBFA"/>
          </a:solidFill>
          <a:ln w="12700">
            <a:solidFill>
              <a:srgbClr val="CFEEED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417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E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已完成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755648"/>
            <a:ext cx="3520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模块微服务架构，注册发现与网关鉴权打通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双角色闭环：发布 → 浏览 → 投递 → 沟通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六维筛选 + 匹配打分 + AI 求职助手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28 行业 147 岗位的完整演示数据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931920" cy="292608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  <a:effectLst>
            <a:outerShdw sx="100000" sy="100000" kx="0" ky="0" algn="bl" rotWithShape="0" blurRad="12700" dist="12700" dir="5400000">
              <a:srgbClr val="D8DEE9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9472" y="1417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可继续优化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19472" y="1755648"/>
            <a:ext cx="3520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WebSocket 替代 3 秒轮询，降低消息延迟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Elasticsearch 承接职位全文检索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引入消息队列解耦投递通知与站内信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E59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Docker Compose 一键部署 + 链路追踪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441655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E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谢谢观看  欢迎提问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8280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直聘通 · 在线招聘求职平台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503920" y="482803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直聘通 · 在线招聘求职平台</dc:title>
  <dc:subject>PptxGenJS Presentation</dc:subject>
  <dc:creator>直聘通项目组</dc:creator>
  <cp:lastModifiedBy>直聘通项目组</cp:lastModifiedBy>
  <cp:revision>1</cp:revision>
  <dcterms:created xsi:type="dcterms:W3CDTF">2026-10-22T06:28:19Z</dcterms:created>
  <dcterms:modified xsi:type="dcterms:W3CDTF">2026-10-22T06:28:19Z</dcterms:modified>
</cp:coreProperties>
</file>